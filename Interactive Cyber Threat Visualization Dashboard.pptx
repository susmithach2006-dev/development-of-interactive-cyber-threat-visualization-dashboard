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Inter 1" panose="020B0604020202020204" charset="0"/>
      <p:regular r:id="rId15"/>
    </p:embeddedFont>
    <p:embeddedFont>
      <p:font typeface="Inter 1 Bold" panose="020B0604020202020204" charset="0"/>
      <p:regular r:id="rId16"/>
    </p:embeddedFont>
    <p:embeddedFont>
      <p:font typeface="Inter 2" panose="020B0604020202020204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Poppins Light" panose="020B0502040204020203" pitchFamily="2" charset="0"/>
      <p:regular r:id="rId20"/>
    </p:embeddedFont>
    <p:embeddedFont>
      <p:font typeface="Prata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54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34286" y="0"/>
            <a:ext cx="6853714" cy="10287000"/>
          </a:xfrm>
          <a:custGeom>
            <a:avLst/>
            <a:gdLst/>
            <a:ahLst/>
            <a:cxnLst/>
            <a:rect l="l" t="t" r="r" b="b"/>
            <a:pathLst>
              <a:path w="6853714" h="10287000">
                <a:moveTo>
                  <a:pt x="0" y="0"/>
                </a:moveTo>
                <a:lnTo>
                  <a:pt x="6853714" y="0"/>
                </a:lnTo>
                <a:lnTo>
                  <a:pt x="68537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5255" y="2104465"/>
            <a:ext cx="2375612" cy="2606675"/>
          </a:xfrm>
          <a:custGeom>
            <a:avLst/>
            <a:gdLst/>
            <a:ahLst/>
            <a:cxnLst/>
            <a:rect l="l" t="t" r="r" b="b"/>
            <a:pathLst>
              <a:path w="2375612" h="2606675">
                <a:moveTo>
                  <a:pt x="0" y="0"/>
                </a:moveTo>
                <a:lnTo>
                  <a:pt x="2375612" y="0"/>
                </a:lnTo>
                <a:lnTo>
                  <a:pt x="2375612" y="2606675"/>
                </a:lnTo>
                <a:lnTo>
                  <a:pt x="0" y="2606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6026725"/>
            <a:ext cx="8952776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 real-time monitoring solution that transforms raw security data into actionable threat intelligence through dynamic visual analytics.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27250" y="1933015"/>
            <a:ext cx="6454226" cy="277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Interactive Cyber Threat Visualization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341343"/>
            <a:ext cx="8896219" cy="5916957"/>
            <a:chOff x="0" y="0"/>
            <a:chExt cx="11861625" cy="7889276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527" t="1314" r="479" b="4961"/>
            <a:stretch>
              <a:fillRect/>
            </a:stretch>
          </p:blipFill>
          <p:spPr>
            <a:xfrm>
              <a:off x="0" y="0"/>
              <a:ext cx="11861625" cy="7889276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028700" y="981075"/>
            <a:ext cx="13267758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Vis</a:t>
            </a:r>
            <a:r>
              <a:rPr lang="en-US" sz="5499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ual Threat Intelligence Matters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135522" y="3341343"/>
            <a:ext cx="7123778" cy="5916957"/>
            <a:chOff x="0" y="0"/>
            <a:chExt cx="9498371" cy="7889276"/>
          </a:xfrm>
        </p:grpSpPr>
        <p:sp>
          <p:nvSpPr>
            <p:cNvPr id="6" name="TextBox 6"/>
            <p:cNvSpPr txBox="1"/>
            <p:nvPr/>
          </p:nvSpPr>
          <p:spPr>
            <a:xfrm>
              <a:off x="0" y="-219075"/>
              <a:ext cx="9498371" cy="16194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5200"/>
                </a:lnSpc>
                <a:buFont typeface="Arial"/>
                <a:buChar char="•"/>
              </a:pPr>
              <a:r>
                <a:rPr lang="en-US" sz="2600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Detect attacks instantly, not after damage is done.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269814"/>
              <a:ext cx="9498371" cy="1619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0" lvl="1" indent="-280670" algn="just">
                <a:lnSpc>
                  <a:spcPts val="5200"/>
                </a:lnSpc>
                <a:buFont typeface="Arial"/>
                <a:buChar char="•"/>
              </a:pPr>
              <a:r>
                <a:rPr lang="en-US" sz="2600" spc="31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Reduce risk of data breaches and system downtime.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107428"/>
              <a:ext cx="9498371" cy="16194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5200"/>
                </a:lnSpc>
                <a:buFont typeface="Arial"/>
                <a:buChar char="•"/>
              </a:pPr>
              <a:r>
                <a:rPr lang="en-US" sz="2600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Respond faster with real-time insights.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45041"/>
              <a:ext cx="9498371" cy="16194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61341" lvl="1" indent="-280670" algn="just">
                <a:lnSpc>
                  <a:spcPts val="5200"/>
                </a:lnSpc>
                <a:buFont typeface="Arial"/>
                <a:buChar char="•"/>
              </a:pPr>
              <a:r>
                <a:rPr lang="en-US" sz="2600" spc="31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See patterns clearly instead of reading complex logs.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144000" y="2333434"/>
            <a:ext cx="0" cy="7953566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6535"/>
            <a:ext cx="18288000" cy="0"/>
          </a:xfrm>
          <a:prstGeom prst="line">
            <a:avLst/>
          </a:prstGeom>
          <a:ln w="9525" cap="flat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338197"/>
            <a:ext cx="18288000" cy="0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981075"/>
            <a:ext cx="16230600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99"/>
              </a:lnSpc>
              <a:spcBef>
                <a:spcPct val="0"/>
              </a:spcBef>
            </a:pPr>
            <a:r>
              <a:rPr lang="en-US" sz="5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</a:t>
            </a:r>
            <a:r>
              <a:rPr lang="en-US" sz="5499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Core Capabilities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227503"/>
            <a:ext cx="6590600" cy="2405247"/>
            <a:chOff x="0" y="0"/>
            <a:chExt cx="8787466" cy="32069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6559" cy="1206559"/>
            </a:xfrm>
            <a:custGeom>
              <a:avLst/>
              <a:gdLst/>
              <a:ahLst/>
              <a:cxnLst/>
              <a:rect l="l" t="t" r="r" b="b"/>
              <a:pathLst>
                <a:path w="1206559" h="1206559">
                  <a:moveTo>
                    <a:pt x="0" y="0"/>
                  </a:moveTo>
                  <a:lnTo>
                    <a:pt x="1206559" y="0"/>
                  </a:lnTo>
                  <a:lnTo>
                    <a:pt x="1206559" y="1206559"/>
                  </a:lnTo>
                  <a:lnTo>
                    <a:pt x="0" y="1206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84902" y="284902"/>
              <a:ext cx="636755" cy="636755"/>
            </a:xfrm>
            <a:custGeom>
              <a:avLst/>
              <a:gdLst/>
              <a:ahLst/>
              <a:cxnLst/>
              <a:rect l="l" t="t" r="r" b="b"/>
              <a:pathLst>
                <a:path w="636755" h="636755">
                  <a:moveTo>
                    <a:pt x="0" y="0"/>
                  </a:moveTo>
                  <a:lnTo>
                    <a:pt x="636755" y="0"/>
                  </a:lnTo>
                  <a:lnTo>
                    <a:pt x="636755" y="636755"/>
                  </a:lnTo>
                  <a:lnTo>
                    <a:pt x="0" y="636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874221" y="194128"/>
              <a:ext cx="6913245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62D61"/>
                  </a:solidFill>
                  <a:latin typeface="Prata"/>
                  <a:ea typeface="Prata"/>
                  <a:cs typeface="Prata"/>
                  <a:sym typeface="Prata"/>
                </a:rPr>
                <a:t>Geospatial Risk Mapping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716" y="1817404"/>
              <a:ext cx="8776751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Instantly locate and visualise geographical origins and targets of cyber incidents on an interactive global map.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47047" y="3227503"/>
            <a:ext cx="6582563" cy="2402526"/>
            <a:chOff x="0" y="0"/>
            <a:chExt cx="8776751" cy="32033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6559" cy="1206559"/>
            </a:xfrm>
            <a:custGeom>
              <a:avLst/>
              <a:gdLst/>
              <a:ahLst/>
              <a:cxnLst/>
              <a:rect l="l" t="t" r="r" b="b"/>
              <a:pathLst>
                <a:path w="1206559" h="1206559">
                  <a:moveTo>
                    <a:pt x="0" y="0"/>
                  </a:moveTo>
                  <a:lnTo>
                    <a:pt x="1206559" y="0"/>
                  </a:lnTo>
                  <a:lnTo>
                    <a:pt x="1206559" y="1206559"/>
                  </a:lnTo>
                  <a:lnTo>
                    <a:pt x="0" y="1206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292672" y="284902"/>
              <a:ext cx="621214" cy="621214"/>
            </a:xfrm>
            <a:custGeom>
              <a:avLst/>
              <a:gdLst/>
              <a:ahLst/>
              <a:cxnLst/>
              <a:rect l="l" t="t" r="r" b="b"/>
              <a:pathLst>
                <a:path w="621214" h="621214">
                  <a:moveTo>
                    <a:pt x="0" y="0"/>
                  </a:moveTo>
                  <a:lnTo>
                    <a:pt x="621215" y="0"/>
                  </a:lnTo>
                  <a:lnTo>
                    <a:pt x="621215" y="621214"/>
                  </a:lnTo>
                  <a:lnTo>
                    <a:pt x="0" y="621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879659" y="218227"/>
              <a:ext cx="4584700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62D61"/>
                  </a:solidFill>
                  <a:latin typeface="Prata"/>
                  <a:ea typeface="Prata"/>
                  <a:cs typeface="Prata"/>
                  <a:sym typeface="Prata"/>
                </a:rPr>
                <a:t>Trend Detection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750488"/>
              <a:ext cx="8776751" cy="1452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Identify recurring attack cycles, frequency spikes, and seasonal variations in threat activity using time-series analysis.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6939571"/>
            <a:ext cx="6590600" cy="2532765"/>
            <a:chOff x="0" y="0"/>
            <a:chExt cx="8787466" cy="33770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08032" cy="1206559"/>
            </a:xfrm>
            <a:custGeom>
              <a:avLst/>
              <a:gdLst/>
              <a:ahLst/>
              <a:cxnLst/>
              <a:rect l="l" t="t" r="r" b="b"/>
              <a:pathLst>
                <a:path w="1208032" h="1206559">
                  <a:moveTo>
                    <a:pt x="0" y="0"/>
                  </a:moveTo>
                  <a:lnTo>
                    <a:pt x="1208032" y="0"/>
                  </a:lnTo>
                  <a:lnTo>
                    <a:pt x="1208032" y="1206559"/>
                  </a:lnTo>
                  <a:lnTo>
                    <a:pt x="0" y="1206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1" b="-6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20704" y="220435"/>
              <a:ext cx="766623" cy="765688"/>
            </a:xfrm>
            <a:custGeom>
              <a:avLst/>
              <a:gdLst/>
              <a:ahLst/>
              <a:cxnLst/>
              <a:rect l="l" t="t" r="r" b="b"/>
              <a:pathLst>
                <a:path w="766623" h="765688">
                  <a:moveTo>
                    <a:pt x="0" y="0"/>
                  </a:moveTo>
                  <a:lnTo>
                    <a:pt x="766624" y="0"/>
                  </a:lnTo>
                  <a:lnTo>
                    <a:pt x="766624" y="765689"/>
                  </a:lnTo>
                  <a:lnTo>
                    <a:pt x="0" y="76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1" b="-6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1670597" y="194128"/>
              <a:ext cx="7116869" cy="15517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62D61"/>
                  </a:solidFill>
                  <a:latin typeface="Prata"/>
                  <a:ea typeface="Prata"/>
                  <a:cs typeface="Prata"/>
                  <a:sym typeface="Prata"/>
                </a:rPr>
                <a:t>MITRE ATT&amp;CK Alignment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87428"/>
              <a:ext cx="8787466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Map real-time security events to the MITRE ATT&amp;CK framework to identify adversary tactics, techniques, and procedures (TTPs).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47047" y="6939571"/>
            <a:ext cx="6582563" cy="2283275"/>
            <a:chOff x="0" y="0"/>
            <a:chExt cx="8776751" cy="30443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06559" cy="1206559"/>
            </a:xfrm>
            <a:custGeom>
              <a:avLst/>
              <a:gdLst/>
              <a:ahLst/>
              <a:cxnLst/>
              <a:rect l="l" t="t" r="r" b="b"/>
              <a:pathLst>
                <a:path w="1206559" h="1206559">
                  <a:moveTo>
                    <a:pt x="0" y="0"/>
                  </a:moveTo>
                  <a:lnTo>
                    <a:pt x="1206559" y="0"/>
                  </a:lnTo>
                  <a:lnTo>
                    <a:pt x="1206559" y="1206559"/>
                  </a:lnTo>
                  <a:lnTo>
                    <a:pt x="0" y="1206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307728" y="293886"/>
              <a:ext cx="606159" cy="618787"/>
            </a:xfrm>
            <a:custGeom>
              <a:avLst/>
              <a:gdLst/>
              <a:ahLst/>
              <a:cxnLst/>
              <a:rect l="l" t="t" r="r" b="b"/>
              <a:pathLst>
                <a:path w="606159" h="618787">
                  <a:moveTo>
                    <a:pt x="0" y="0"/>
                  </a:moveTo>
                  <a:lnTo>
                    <a:pt x="606159" y="0"/>
                  </a:lnTo>
                  <a:lnTo>
                    <a:pt x="606159" y="618787"/>
                  </a:lnTo>
                  <a:lnTo>
                    <a:pt x="0" y="61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1879659" y="38062"/>
              <a:ext cx="5732621" cy="751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59"/>
                </a:lnSpc>
                <a:spcBef>
                  <a:spcPct val="0"/>
                </a:spcBef>
              </a:pPr>
              <a:r>
                <a:rPr lang="en-US" sz="3399">
                  <a:solidFill>
                    <a:srgbClr val="062D61"/>
                  </a:solidFill>
                  <a:latin typeface="Prata"/>
                  <a:ea typeface="Prata"/>
                  <a:cs typeface="Prata"/>
                  <a:sym typeface="Prata"/>
                </a:rPr>
                <a:t>Enhanced Reporting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654775"/>
              <a:ext cx="8776751" cy="13895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1">
                  <a:solidFill>
                    <a:srgbClr val="000000"/>
                  </a:solidFill>
                  <a:latin typeface="Inter 1 Bold"/>
                  <a:ea typeface="Inter 1 Bold"/>
                  <a:cs typeface="Inter 1 Bold"/>
                  <a:sym typeface="Inter 1 Bold"/>
                </a:rPr>
                <a:t>Data-driven, executive-ready reports on current organisational risk profile for informed decision-making.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341787"/>
            <a:ext cx="18288000" cy="5921276"/>
            <a:chOff x="0" y="0"/>
            <a:chExt cx="2009421" cy="65060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09421" cy="650609"/>
            </a:xfrm>
            <a:custGeom>
              <a:avLst/>
              <a:gdLst/>
              <a:ahLst/>
              <a:cxnLst/>
              <a:rect l="l" t="t" r="r" b="b"/>
              <a:pathLst>
                <a:path w="2009421" h="650609">
                  <a:moveTo>
                    <a:pt x="0" y="0"/>
                  </a:moveTo>
                  <a:lnTo>
                    <a:pt x="2009421" y="0"/>
                  </a:lnTo>
                  <a:lnTo>
                    <a:pt x="2009421" y="650609"/>
                  </a:lnTo>
                  <a:lnTo>
                    <a:pt x="0" y="650609"/>
                  </a:lnTo>
                  <a:close/>
                </a:path>
              </a:pathLst>
            </a:custGeom>
            <a:blipFill>
              <a:blip r:embed="rId2">
                <a:alphaModFix amt="14000"/>
              </a:blip>
              <a:stretch>
                <a:fillRect t="-66012" b="-6601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35844" y="942975"/>
            <a:ext cx="1623060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Geospatial Risk Mapping</a:t>
            </a:r>
          </a:p>
        </p:txBody>
      </p:sp>
      <p:sp>
        <p:nvSpPr>
          <p:cNvPr id="5" name="Auto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6184553" y="6300043"/>
            <a:ext cx="5926038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332262"/>
            <a:ext cx="18288000" cy="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6697336" y="2209800"/>
            <a:ext cx="4893328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0"/>
              </a:lnSpc>
            </a:pPr>
            <a:r>
              <a:rPr lang="en-US" sz="35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Global Threat Visibility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5844" y="5839404"/>
            <a:ext cx="7122869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Visualise cyber incidents across geographical boundaries, enabling analysts to identify regional attack patterns and source distributions.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997067"/>
            <a:ext cx="1148328" cy="80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4943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42336" y="3997067"/>
            <a:ext cx="1148328" cy="80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26"/>
              </a:lnSpc>
            </a:pPr>
            <a:r>
              <a:rPr lang="en-US" sz="4943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42336" y="5839404"/>
            <a:ext cx="7122869" cy="198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00"/>
              </a:lnSpc>
            </a:pPr>
            <a:r>
              <a:rPr lang="en-US" sz="3000">
                <a:solidFill>
                  <a:srgbClr val="FFFFFF"/>
                </a:solidFill>
                <a:latin typeface="Inter 2"/>
                <a:ea typeface="Inter 2"/>
                <a:cs typeface="Inter 2"/>
                <a:sym typeface="Inter 2"/>
              </a:rPr>
              <a:t>Track real-time attack origins and target distributions to pinpoint regional hotspots and facilitate rapid, localized incident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986474"/>
            <a:ext cx="7720779" cy="4250702"/>
          </a:xfrm>
          <a:custGeom>
            <a:avLst/>
            <a:gdLst/>
            <a:ahLst/>
            <a:cxnLst/>
            <a:rect l="l" t="t" r="r" b="b"/>
            <a:pathLst>
              <a:path w="7720779" h="4250702">
                <a:moveTo>
                  <a:pt x="0" y="0"/>
                </a:moveTo>
                <a:lnTo>
                  <a:pt x="7720779" y="0"/>
                </a:lnTo>
                <a:lnTo>
                  <a:pt x="7720779" y="4250702"/>
                </a:lnTo>
                <a:lnTo>
                  <a:pt x="0" y="4250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2" b="-28335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5768613" y="8437326"/>
            <a:ext cx="1227404" cy="369263"/>
            <a:chOff x="0" y="0"/>
            <a:chExt cx="1772986" cy="533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2986" cy="533400"/>
            </a:xfrm>
            <a:custGeom>
              <a:avLst/>
              <a:gdLst/>
              <a:ahLst/>
              <a:cxnLst/>
              <a:rect l="l" t="t" r="r" b="b"/>
              <a:pathLst>
                <a:path w="1772986" h="533400">
                  <a:moveTo>
                    <a:pt x="239386" y="166418"/>
                  </a:moveTo>
                  <a:lnTo>
                    <a:pt x="1772986" y="166418"/>
                  </a:lnTo>
                  <a:lnTo>
                    <a:pt x="177298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0650" y="98425"/>
              <a:ext cx="1652336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81075"/>
            <a:ext cx="14037452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Strategic Vul</a:t>
            </a:r>
            <a:r>
              <a:rPr lang="en-US" sz="50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nerability Prioritization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060055"/>
            <a:ext cx="4386296" cy="143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</a:pPr>
            <a:r>
              <a:rPr lang="en-US" sz="27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Quick identificati</a:t>
            </a:r>
            <a:r>
              <a:rPr lang="en-US" sz="27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on of most frequently targeted systems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4586558"/>
            <a:ext cx="7980587" cy="1912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</a:pPr>
            <a:r>
              <a:rPr lang="en-US" sz="27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Hi</a:t>
            </a:r>
            <a:r>
              <a:rPr lang="en-US" sz="27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erarchical charts and treemaps enable rapid identification of the most frequently targeted systems, services, and MITRE ATT&amp;CK techniques.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49635" y="8060055"/>
            <a:ext cx="4386296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</a:pPr>
            <a:r>
              <a:rPr lang="en-US" sz="27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MITRE ATT&amp;CK</a:t>
            </a:r>
            <a:r>
              <a:rPr lang="en-US" sz="27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 technique mapping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70570" y="8060055"/>
            <a:ext cx="3547814" cy="960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79"/>
              </a:lnSpc>
            </a:pPr>
            <a:r>
              <a:rPr lang="en-US" sz="27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Resource allocati</a:t>
            </a:r>
            <a:r>
              <a:rPr lang="en-US" sz="27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on optimisation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948113"/>
            <a:ext cx="12792739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</a:pPr>
            <a:r>
              <a:rPr lang="en-US" sz="27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Lev</a:t>
            </a:r>
            <a:r>
              <a:rPr lang="en-US" sz="27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eraging Medallion Pipeline for Tactical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26510" y="3724035"/>
            <a:ext cx="4317967" cy="576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5"/>
              </a:lnSpc>
              <a:spcBef>
                <a:spcPct val="0"/>
              </a:spcBef>
            </a:pPr>
            <a:r>
              <a:rPr lang="en-US" sz="3289" b="1">
                <a:solidFill>
                  <a:srgbClr val="000000"/>
                </a:solidFill>
                <a:latin typeface="Inter 1 Bold"/>
                <a:ea typeface="Inter 1 Bold"/>
                <a:cs typeface="Inter 1 Bold"/>
                <a:sym typeface="Inter 1 Bold"/>
              </a:rPr>
              <a:t>Tactical Prioritization</a:t>
            </a:r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12058089" y="8437326"/>
            <a:ext cx="1227404" cy="369263"/>
            <a:chOff x="0" y="0"/>
            <a:chExt cx="1772986" cy="533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72986" cy="533400"/>
            </a:xfrm>
            <a:custGeom>
              <a:avLst/>
              <a:gdLst/>
              <a:ahLst/>
              <a:cxnLst/>
              <a:rect l="l" t="t" r="r" b="b"/>
              <a:pathLst>
                <a:path w="1772986" h="533400">
                  <a:moveTo>
                    <a:pt x="239386" y="166418"/>
                  </a:moveTo>
                  <a:lnTo>
                    <a:pt x="1772986" y="166418"/>
                  </a:lnTo>
                  <a:lnTo>
                    <a:pt x="1772986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0650" y="98425"/>
              <a:ext cx="1652336" cy="269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1304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80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 and Anomaly Detection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5482227"/>
            <a:ext cx="4717479" cy="2728323"/>
            <a:chOff x="0" y="0"/>
            <a:chExt cx="6289972" cy="3637764"/>
          </a:xfrm>
        </p:grpSpPr>
        <p:sp>
          <p:nvSpPr>
            <p:cNvPr id="4" name="TextBox 4"/>
            <p:cNvSpPr txBox="1"/>
            <p:nvPr/>
          </p:nvSpPr>
          <p:spPr>
            <a:xfrm>
              <a:off x="0" y="1893631"/>
              <a:ext cx="6289972" cy="1744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Identify recurring attack cycles and seasonal variations in threat activity.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6289972" cy="1060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1" spc="-5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Temporal Pattern Recognition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744204" y="5482227"/>
            <a:ext cx="4717479" cy="2605556"/>
            <a:chOff x="0" y="0"/>
            <a:chExt cx="6289972" cy="3474075"/>
          </a:xfrm>
        </p:grpSpPr>
        <p:sp>
          <p:nvSpPr>
            <p:cNvPr id="7" name="TextBox 7"/>
            <p:cNvSpPr txBox="1"/>
            <p:nvPr/>
          </p:nvSpPr>
          <p:spPr>
            <a:xfrm>
              <a:off x="0" y="1145742"/>
              <a:ext cx="6289972" cy="23283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Flag unusual increases in attack volume that may indicate coordinated campaigns.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6289972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1" spc="-5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Frequency Spike Detection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459708" y="5482227"/>
            <a:ext cx="4799592" cy="2167406"/>
            <a:chOff x="0" y="0"/>
            <a:chExt cx="6399456" cy="28898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5742"/>
              <a:ext cx="6399456" cy="1744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Track changes in attack sophistication and exploit severity levels over time.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6399456" cy="53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1" spc="-52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Severity Assessment</a:t>
              </a:r>
            </a:p>
          </p:txBody>
        </p:sp>
      </p:grpSp>
      <p:sp>
        <p:nvSpPr>
          <p:cNvPr id="12" name="Auto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3399183" y="6407529"/>
            <a:ext cx="5692017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-5400000">
            <a:off x="9114687" y="6407529"/>
            <a:ext cx="5692017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028700" y="3537708"/>
            <a:ext cx="177879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E1BCAC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44204" y="3537708"/>
            <a:ext cx="177879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>
                <a:solidFill>
                  <a:srgbClr val="E1BCAC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59708" y="3537708"/>
            <a:ext cx="177879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 u="none">
                <a:solidFill>
                  <a:srgbClr val="E1BCAC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5494635" y="0"/>
            <a:ext cx="0" cy="10324725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81075"/>
            <a:ext cx="4470697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Syst</a:t>
            </a:r>
            <a:r>
              <a:rPr lang="en-US" sz="50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em Architecture Overview</a:t>
            </a:r>
          </a:p>
        </p:txBody>
      </p:sp>
      <p:sp>
        <p:nvSpPr>
          <p:cNvPr id="4" name="Auto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9399" y="5438376"/>
            <a:ext cx="12788603" cy="4762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4544757"/>
            <a:ext cx="3949718" cy="456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550"/>
              </a:lnSpc>
            </a:pPr>
            <a:r>
              <a:rPr lang="en-US" sz="3500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A four-layer architecture designed for scalability, security, and real-time threat intelligence processing.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38457" y="2986596"/>
            <a:ext cx="5306660" cy="210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•OTX Threat Feed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•NVD &amp; CVE Repository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•Network Discovery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•IP Reputation Database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•Telemetry Upload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8457" y="1987741"/>
            <a:ext cx="530666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 spc="-52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External Ingestion &amp; Data Sources</a:t>
            </a:r>
          </a:p>
        </p:txBody>
      </p:sp>
      <p:sp>
        <p:nvSpPr>
          <p:cNvPr id="8" name="Auto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1893700" y="304401"/>
            <a:ext cx="0" cy="10324725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6038457" y="863791"/>
            <a:ext cx="5306660" cy="918250"/>
            <a:chOff x="0" y="0"/>
            <a:chExt cx="7075547" cy="1224334"/>
          </a:xfrm>
        </p:grpSpPr>
        <p:sp>
          <p:nvSpPr>
            <p:cNvPr id="10" name="Freeform 10"/>
            <p:cNvSpPr/>
            <p:nvPr/>
          </p:nvSpPr>
          <p:spPr>
            <a:xfrm>
              <a:off x="969856" y="485558"/>
              <a:ext cx="6105692" cy="266783"/>
            </a:xfrm>
            <a:custGeom>
              <a:avLst/>
              <a:gdLst/>
              <a:ahLst/>
              <a:cxnLst/>
              <a:rect l="l" t="t" r="r" b="b"/>
              <a:pathLst>
                <a:path w="6105692" h="266783">
                  <a:moveTo>
                    <a:pt x="0" y="0"/>
                  </a:moveTo>
                  <a:lnTo>
                    <a:pt x="6105691" y="0"/>
                  </a:lnTo>
                  <a:lnTo>
                    <a:pt x="6105691" y="266784"/>
                  </a:lnTo>
                  <a:lnTo>
                    <a:pt x="0" y="26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823" r="-22823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1224334" cy="1224334"/>
            </a:xfrm>
            <a:custGeom>
              <a:avLst/>
              <a:gdLst/>
              <a:ahLst/>
              <a:cxnLst/>
              <a:rect l="l" t="t" r="r" b="b"/>
              <a:pathLst>
                <a:path w="1224334" h="1224334">
                  <a:moveTo>
                    <a:pt x="0" y="0"/>
                  </a:moveTo>
                  <a:lnTo>
                    <a:pt x="1224334" y="0"/>
                  </a:lnTo>
                  <a:lnTo>
                    <a:pt x="1224334" y="1224334"/>
                  </a:lnTo>
                  <a:lnTo>
                    <a:pt x="0" y="1224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82217" y="357753"/>
              <a:ext cx="459899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38457" y="5971776"/>
            <a:ext cx="5306660" cy="918250"/>
            <a:chOff x="0" y="0"/>
            <a:chExt cx="7075547" cy="1224334"/>
          </a:xfrm>
        </p:grpSpPr>
        <p:sp>
          <p:nvSpPr>
            <p:cNvPr id="14" name="Freeform 14"/>
            <p:cNvSpPr/>
            <p:nvPr/>
          </p:nvSpPr>
          <p:spPr>
            <a:xfrm>
              <a:off x="969856" y="485558"/>
              <a:ext cx="6105692" cy="266783"/>
            </a:xfrm>
            <a:custGeom>
              <a:avLst/>
              <a:gdLst/>
              <a:ahLst/>
              <a:cxnLst/>
              <a:rect l="l" t="t" r="r" b="b"/>
              <a:pathLst>
                <a:path w="6105692" h="266783">
                  <a:moveTo>
                    <a:pt x="0" y="0"/>
                  </a:moveTo>
                  <a:lnTo>
                    <a:pt x="6105691" y="0"/>
                  </a:lnTo>
                  <a:lnTo>
                    <a:pt x="6105691" y="266784"/>
                  </a:lnTo>
                  <a:lnTo>
                    <a:pt x="0" y="26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823" r="-22823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224334" cy="1224334"/>
            </a:xfrm>
            <a:custGeom>
              <a:avLst/>
              <a:gdLst/>
              <a:ahLst/>
              <a:cxnLst/>
              <a:rect l="l" t="t" r="r" b="b"/>
              <a:pathLst>
                <a:path w="1224334" h="1224334">
                  <a:moveTo>
                    <a:pt x="0" y="0"/>
                  </a:moveTo>
                  <a:lnTo>
                    <a:pt x="1224334" y="0"/>
                  </a:lnTo>
                  <a:lnTo>
                    <a:pt x="1224334" y="1224334"/>
                  </a:lnTo>
                  <a:lnTo>
                    <a:pt x="0" y="1224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318348" y="350970"/>
              <a:ext cx="587638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38457" y="7099577"/>
            <a:ext cx="530666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 spc="-52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Processing &amp; Application Services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39352" y="8099702"/>
            <a:ext cx="5306660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•AI Forensics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•Authentication &amp; RBAC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•SOAR Engine Automation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•WebSocket Controller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441388" y="873976"/>
            <a:ext cx="5306660" cy="918250"/>
            <a:chOff x="0" y="0"/>
            <a:chExt cx="7075547" cy="1224334"/>
          </a:xfrm>
        </p:grpSpPr>
        <p:sp>
          <p:nvSpPr>
            <p:cNvPr id="20" name="Freeform 20"/>
            <p:cNvSpPr/>
            <p:nvPr/>
          </p:nvSpPr>
          <p:spPr>
            <a:xfrm>
              <a:off x="969856" y="485558"/>
              <a:ext cx="6105692" cy="266783"/>
            </a:xfrm>
            <a:custGeom>
              <a:avLst/>
              <a:gdLst/>
              <a:ahLst/>
              <a:cxnLst/>
              <a:rect l="l" t="t" r="r" b="b"/>
              <a:pathLst>
                <a:path w="6105692" h="266783">
                  <a:moveTo>
                    <a:pt x="0" y="0"/>
                  </a:moveTo>
                  <a:lnTo>
                    <a:pt x="6105691" y="0"/>
                  </a:lnTo>
                  <a:lnTo>
                    <a:pt x="6105691" y="266784"/>
                  </a:lnTo>
                  <a:lnTo>
                    <a:pt x="0" y="26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823" r="-22823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224334" cy="1224334"/>
            </a:xfrm>
            <a:custGeom>
              <a:avLst/>
              <a:gdLst/>
              <a:ahLst/>
              <a:cxnLst/>
              <a:rect l="l" t="t" r="r" b="b"/>
              <a:pathLst>
                <a:path w="1224334" h="1224334">
                  <a:moveTo>
                    <a:pt x="0" y="0"/>
                  </a:moveTo>
                  <a:lnTo>
                    <a:pt x="1224334" y="0"/>
                  </a:lnTo>
                  <a:lnTo>
                    <a:pt x="1224334" y="1224334"/>
                  </a:lnTo>
                  <a:lnTo>
                    <a:pt x="0" y="1224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318348" y="357753"/>
              <a:ext cx="587638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441388" y="5971776"/>
            <a:ext cx="5306660" cy="918250"/>
            <a:chOff x="0" y="0"/>
            <a:chExt cx="7075547" cy="1224334"/>
          </a:xfrm>
        </p:grpSpPr>
        <p:sp>
          <p:nvSpPr>
            <p:cNvPr id="24" name="Freeform 24"/>
            <p:cNvSpPr/>
            <p:nvPr/>
          </p:nvSpPr>
          <p:spPr>
            <a:xfrm>
              <a:off x="969856" y="485558"/>
              <a:ext cx="6105692" cy="266783"/>
            </a:xfrm>
            <a:custGeom>
              <a:avLst/>
              <a:gdLst/>
              <a:ahLst/>
              <a:cxnLst/>
              <a:rect l="l" t="t" r="r" b="b"/>
              <a:pathLst>
                <a:path w="6105692" h="266783">
                  <a:moveTo>
                    <a:pt x="0" y="0"/>
                  </a:moveTo>
                  <a:lnTo>
                    <a:pt x="6105691" y="0"/>
                  </a:lnTo>
                  <a:lnTo>
                    <a:pt x="6105691" y="266784"/>
                  </a:lnTo>
                  <a:lnTo>
                    <a:pt x="0" y="266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2823" r="-22823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24334" cy="1224334"/>
            </a:xfrm>
            <a:custGeom>
              <a:avLst/>
              <a:gdLst/>
              <a:ahLst/>
              <a:cxnLst/>
              <a:rect l="l" t="t" r="r" b="b"/>
              <a:pathLst>
                <a:path w="1224334" h="1224334">
                  <a:moveTo>
                    <a:pt x="0" y="0"/>
                  </a:moveTo>
                  <a:lnTo>
                    <a:pt x="1224334" y="0"/>
                  </a:lnTo>
                  <a:lnTo>
                    <a:pt x="1224334" y="1224334"/>
                  </a:lnTo>
                  <a:lnTo>
                    <a:pt x="0" y="1224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350283" y="357753"/>
              <a:ext cx="523769" cy="4842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04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441388" y="7131983"/>
            <a:ext cx="530666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 spc="-52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 &amp; Sentinel UI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41388" y="1987741"/>
            <a:ext cx="5306660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 spc="-52">
                <a:solidFill>
                  <a:srgbClr val="373737"/>
                </a:solidFill>
                <a:latin typeface="Poppins Bold"/>
                <a:ea typeface="Poppins Bold"/>
                <a:cs typeface="Poppins Bold"/>
                <a:sym typeface="Poppins Bold"/>
              </a:rPr>
              <a:t>Distributed Data Lake &amp; Database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74599" y="2986596"/>
            <a:ext cx="5306660" cy="210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Medallion Architecture: Bronze (Raw/Normalized) → Silver (Curated) → Gold (Actionable Insights) with RLS access control.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441388" y="7677448"/>
            <a:ext cx="5306660" cy="168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•3D Visualization Globe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•Performance Dashboard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•TTP Matrix Navigator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73737"/>
                </a:solidFill>
                <a:latin typeface="Poppins Light"/>
                <a:ea typeface="Poppins Light"/>
                <a:cs typeface="Poppins Light"/>
                <a:sym typeface="Poppins Light"/>
              </a:rPr>
              <a:t>•Human-AI Chatbot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15056D-82BC-3D93-E961-955C1D9B0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09675"/>
            <a:ext cx="1374087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End-to-End Dat</a:t>
            </a:r>
            <a:r>
              <a:rPr lang="en-US" sz="5000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71617" y="9220200"/>
            <a:ext cx="9544767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FFFFFF"/>
                </a:solidFill>
                <a:latin typeface="Inter 1 Bold"/>
                <a:ea typeface="Inter 1 Bold"/>
                <a:cs typeface="Inter 1 Bold"/>
                <a:sym typeface="Inter 1 Bold"/>
              </a:rPr>
              <a:t>Result:</a:t>
            </a:r>
            <a:r>
              <a:rPr lang="en-US" sz="21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 Faster threat detection and decision-making with actionable intelligence.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3984088"/>
            <a:ext cx="16230600" cy="776139"/>
            <a:chOff x="0" y="0"/>
            <a:chExt cx="21640800" cy="1034852"/>
          </a:xfrm>
        </p:grpSpPr>
        <p:sp>
          <p:nvSpPr>
            <p:cNvPr id="5" name="AutoShape 5"/>
            <p:cNvSpPr/>
            <p:nvPr/>
          </p:nvSpPr>
          <p:spPr>
            <a:xfrm>
              <a:off x="0" y="517426"/>
              <a:ext cx="21640800" cy="0"/>
            </a:xfrm>
            <a:prstGeom prst="line">
              <a:avLst/>
            </a:prstGeom>
            <a:ln w="508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1423232" y="0"/>
              <a:ext cx="1049850" cy="1034852"/>
              <a:chOff x="0" y="0"/>
              <a:chExt cx="207378" cy="20441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7378" cy="204415"/>
              </a:xfrm>
              <a:custGeom>
                <a:avLst/>
                <a:gdLst/>
                <a:ahLst/>
                <a:cxnLst/>
                <a:rect l="l" t="t" r="r" b="b"/>
                <a:pathLst>
                  <a:path w="207378" h="204415">
                    <a:moveTo>
                      <a:pt x="0" y="0"/>
                    </a:moveTo>
                    <a:lnTo>
                      <a:pt x="207378" y="0"/>
                    </a:lnTo>
                    <a:lnTo>
                      <a:pt x="207378" y="204415"/>
                    </a:lnTo>
                    <a:lnTo>
                      <a:pt x="0" y="204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07378" cy="242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423087" y="-104775"/>
              <a:ext cx="1061332" cy="113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31"/>
                </a:lnSpc>
              </a:pPr>
              <a:r>
                <a:rPr lang="en-US" sz="50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309314" y="0"/>
              <a:ext cx="1049850" cy="1034852"/>
              <a:chOff x="0" y="0"/>
              <a:chExt cx="207378" cy="20441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07378" cy="204415"/>
              </a:xfrm>
              <a:custGeom>
                <a:avLst/>
                <a:gdLst/>
                <a:ahLst/>
                <a:cxnLst/>
                <a:rect l="l" t="t" r="r" b="b"/>
                <a:pathLst>
                  <a:path w="207378" h="204415">
                    <a:moveTo>
                      <a:pt x="0" y="0"/>
                    </a:moveTo>
                    <a:lnTo>
                      <a:pt x="207378" y="0"/>
                    </a:lnTo>
                    <a:lnTo>
                      <a:pt x="207378" y="204415"/>
                    </a:lnTo>
                    <a:lnTo>
                      <a:pt x="0" y="204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207378" cy="242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7309595" y="-104775"/>
              <a:ext cx="1061332" cy="113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31"/>
                </a:lnSpc>
              </a:pPr>
              <a:r>
                <a:rPr lang="en-US" sz="50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3197864" y="0"/>
              <a:ext cx="1049850" cy="1034852"/>
              <a:chOff x="0" y="0"/>
              <a:chExt cx="207378" cy="20441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07378" cy="204415"/>
              </a:xfrm>
              <a:custGeom>
                <a:avLst/>
                <a:gdLst/>
                <a:ahLst/>
                <a:cxnLst/>
                <a:rect l="l" t="t" r="r" b="b"/>
                <a:pathLst>
                  <a:path w="207378" h="204415">
                    <a:moveTo>
                      <a:pt x="0" y="0"/>
                    </a:moveTo>
                    <a:lnTo>
                      <a:pt x="207378" y="0"/>
                    </a:lnTo>
                    <a:lnTo>
                      <a:pt x="207378" y="204415"/>
                    </a:lnTo>
                    <a:lnTo>
                      <a:pt x="0" y="204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07378" cy="242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3196927" y="-104775"/>
              <a:ext cx="1061332" cy="113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31"/>
                </a:lnSpc>
              </a:pPr>
              <a:r>
                <a:rPr lang="en-US" sz="50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9090000" y="0"/>
              <a:ext cx="1049850" cy="1034852"/>
              <a:chOff x="0" y="0"/>
              <a:chExt cx="207378" cy="20441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207378" cy="204415"/>
              </a:xfrm>
              <a:custGeom>
                <a:avLst/>
                <a:gdLst/>
                <a:ahLst/>
                <a:cxnLst/>
                <a:rect l="l" t="t" r="r" b="b"/>
                <a:pathLst>
                  <a:path w="207378" h="204415">
                    <a:moveTo>
                      <a:pt x="0" y="0"/>
                    </a:moveTo>
                    <a:lnTo>
                      <a:pt x="207378" y="0"/>
                    </a:lnTo>
                    <a:lnTo>
                      <a:pt x="207378" y="204415"/>
                    </a:lnTo>
                    <a:lnTo>
                      <a:pt x="0" y="204415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207378" cy="2425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19084259" y="-102981"/>
              <a:ext cx="1061332" cy="1137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131"/>
                </a:lnSpc>
              </a:pPr>
              <a:r>
                <a:rPr lang="en-US" sz="50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4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67695" y="3335453"/>
            <a:ext cx="1461640" cy="3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Ingestion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46711" y="3329648"/>
            <a:ext cx="1315337" cy="3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Analysis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61805" y="3339416"/>
            <a:ext cx="1315337" cy="3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Storage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09638" y="3335453"/>
            <a:ext cx="1929097" cy="3822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Visualization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427102"/>
            <a:ext cx="306008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Collect external threat data from multiple intelligence sources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30998" y="6427102"/>
            <a:ext cx="306008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AI &amp; automation processing using FastAPI microservices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89430" y="6427102"/>
            <a:ext cx="306008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Medallion Data Lake structure with tiered refinement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44143" y="6427102"/>
            <a:ext cx="3060089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 1"/>
                <a:ea typeface="Inter 1"/>
                <a:cs typeface="Inter 1"/>
                <a:sym typeface="Inter 1"/>
              </a:rPr>
              <a:t>Dashboards &amp; UI insights for human interaction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8700" y="5168215"/>
            <a:ext cx="3060089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OTX Feed &amp; Nmap Scans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30998" y="5168215"/>
            <a:ext cx="3060089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FastAPI &amp; Gemini AI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675559" y="5168215"/>
            <a:ext cx="3287832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Supabase (Bronze/Silver/Gold)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199211" y="5168215"/>
            <a:ext cx="3060089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rPr>
              <a:t>3D Globe &amp; React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9139238" y="2258273"/>
            <a:ext cx="4762" cy="8028727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8700" y="981075"/>
            <a:ext cx="162306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Four-Phase Dev</a:t>
            </a:r>
            <a:r>
              <a:rPr lang="en-US" sz="5000" u="none">
                <a:solidFill>
                  <a:srgbClr val="373737"/>
                </a:solidFill>
                <a:latin typeface="Poppins"/>
                <a:ea typeface="Poppins"/>
                <a:cs typeface="Poppins"/>
                <a:sym typeface="Poppins"/>
              </a:rPr>
              <a:t>elopment Roadmap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4225" y="5376310"/>
            <a:ext cx="3454907" cy="3884436"/>
            <a:chOff x="0" y="0"/>
            <a:chExt cx="4606542" cy="5179248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4606542" cy="1060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1" spc="-52">
                  <a:solidFill>
                    <a:srgbClr val="3737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Acquisition &amp; Structuring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551705"/>
              <a:ext cx="4606542" cy="362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200">
                  <a:solidFill>
                    <a:srgbClr val="37373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Collect and clean raw security incident data. Normalise fields to enable consistent analysis and mapping to MITRE ATT&amp;CK categories.</a:t>
              </a:r>
            </a:p>
          </p:txBody>
        </p:sp>
      </p:grpSp>
      <p:sp>
        <p:nvSpPr>
          <p:cNvPr id="7" name="Auto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2258273"/>
            <a:ext cx="18288000" cy="0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5310331" y="5373864"/>
            <a:ext cx="3454907" cy="3103386"/>
            <a:chOff x="0" y="0"/>
            <a:chExt cx="4606542" cy="4137848"/>
          </a:xfrm>
        </p:grpSpPr>
        <p:sp>
          <p:nvSpPr>
            <p:cNvPr id="9" name="TextBox 9"/>
            <p:cNvSpPr txBox="1"/>
            <p:nvPr/>
          </p:nvSpPr>
          <p:spPr>
            <a:xfrm>
              <a:off x="0" y="-19050"/>
              <a:ext cx="4606542" cy="1060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1" spc="-52">
                  <a:solidFill>
                    <a:srgbClr val="3737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Core Visualisation Development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551705"/>
              <a:ext cx="4606542" cy="25861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200">
                  <a:solidFill>
                    <a:srgbClr val="37373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Develop all time-series and categorical charts that quantify attack frequency, severity, and type distribution.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0237" y="5376310"/>
            <a:ext cx="3454907" cy="3884436"/>
            <a:chOff x="0" y="0"/>
            <a:chExt cx="4606542" cy="5179248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9050"/>
              <a:ext cx="4606542" cy="1581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1" spc="-52">
                  <a:solidFill>
                    <a:srgbClr val="3737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Geospatial &amp; Hierarchical Visualisation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072405"/>
              <a:ext cx="4606542" cy="31068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200">
                  <a:solidFill>
                    <a:srgbClr val="37373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Implement interactive geographical map for risk mapping and treemap/sunburst chart for systemic vulnerability analysis.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04393" y="5373864"/>
            <a:ext cx="3454907" cy="3884436"/>
            <a:chOff x="0" y="0"/>
            <a:chExt cx="4606542" cy="517924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9050"/>
              <a:ext cx="4606542" cy="1581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20"/>
                </a:lnSpc>
              </a:pPr>
              <a:r>
                <a:rPr lang="en-US" sz="2600" b="1" spc="-52">
                  <a:solidFill>
                    <a:srgbClr val="373737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 Integration &amp; Finalisation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2072405"/>
              <a:ext cx="4606542" cy="31068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79"/>
                </a:lnSpc>
              </a:pPr>
              <a:r>
                <a:rPr lang="en-US" sz="2200">
                  <a:solidFill>
                    <a:srgbClr val="373737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Integrate all visualisations into single responsive Plotly/Dash application with interactive filtering capabilities.</a:t>
              </a:r>
            </a:p>
          </p:txBody>
        </p:sp>
      </p:grpSp>
      <p:sp>
        <p:nvSpPr>
          <p:cNvPr id="17" name="Auto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4931569" y="2258276"/>
            <a:ext cx="4762" cy="8028727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 flipV="1">
            <a:off x="13351382" y="2258279"/>
            <a:ext cx="4762" cy="8028727"/>
          </a:xfrm>
          <a:prstGeom prst="line">
            <a:avLst/>
          </a:prstGeom>
          <a:ln w="9525" cap="rnd">
            <a:solidFill>
              <a:srgbClr val="3737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2201222" y="3260715"/>
            <a:ext cx="1109862" cy="104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501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82853" y="3260715"/>
            <a:ext cx="1109862" cy="104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501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91812" y="3260715"/>
            <a:ext cx="1109862" cy="104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501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80157" y="3260715"/>
            <a:ext cx="1109862" cy="1048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51"/>
              </a:lnSpc>
            </a:pPr>
            <a:r>
              <a:rPr lang="en-US" sz="6501">
                <a:solidFill>
                  <a:srgbClr val="000000"/>
                </a:solidFill>
                <a:latin typeface="Inter 2"/>
                <a:ea typeface="Inter 2"/>
                <a:cs typeface="Inter 2"/>
                <a:sym typeface="Inter 2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7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1329" y="971550"/>
            <a:ext cx="11291931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0"/>
              </a:lnSpc>
              <a:spcBef>
                <a:spcPct val="0"/>
              </a:spcBef>
            </a:pPr>
            <a:r>
              <a:rPr lang="en-US" sz="6200">
                <a:solidFill>
                  <a:srgbClr val="F1F1F1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6200" u="none">
                <a:solidFill>
                  <a:srgbClr val="F1F1F1"/>
                </a:solidFill>
                <a:latin typeface="Poppins"/>
                <a:ea typeface="Poppins"/>
                <a:cs typeface="Poppins"/>
                <a:sym typeface="Poppins"/>
              </a:rPr>
              <a:t>ey Technical Components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141329" y="2331875"/>
            <a:ext cx="12117971" cy="6926425"/>
            <a:chOff x="0" y="0"/>
            <a:chExt cx="16157294" cy="9235233"/>
          </a:xfrm>
        </p:grpSpPr>
        <p:sp>
          <p:nvSpPr>
            <p:cNvPr id="4" name="TextBox 4"/>
            <p:cNvSpPr txBox="1"/>
            <p:nvPr/>
          </p:nvSpPr>
          <p:spPr>
            <a:xfrm>
              <a:off x="0" y="-171450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FastAPI Microservices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</a:t>
              </a:r>
              <a:r>
                <a:rPr lang="en-US" sz="188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High-performance backend services for real-time data processing and WebSocket communication.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451731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AI Forensics Engine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 dirty="0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</a:t>
              </a:r>
              <a:r>
                <a:rPr lang="en-US" sz="1883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Machine learning models for automated threat pattern recognition and anomaly detection.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074911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SOAR Automation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</a:t>
              </a:r>
              <a:r>
                <a:rPr lang="en-US" sz="188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Security Orchestration, Automation, and Response for automated incident mitigation workflows.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98092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3D Visualization Globe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</a:t>
              </a:r>
              <a:r>
                <a:rPr lang="en-US" sz="1883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Interactive geospatial mapping of threat origins and targets across global infrastructure.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321276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TTP Matrix Navigator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MITRE ATT&amp;CK framework integration for technique, tactic, and procedure classification.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947648"/>
              <a:ext cx="16157294" cy="1287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87913" lvl="1" indent="-243956" algn="l">
                <a:lnSpc>
                  <a:spcPts val="4519"/>
                </a:lnSpc>
                <a:buFont typeface="Arial"/>
                <a:buChar char="•"/>
              </a:pPr>
              <a:r>
                <a:rPr lang="en-US" sz="2259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Human-AI Chatbot</a:t>
              </a:r>
            </a:p>
            <a:p>
              <a:pPr algn="l">
                <a:lnSpc>
                  <a:spcPts val="3766"/>
                </a:lnSpc>
              </a:pPr>
              <a:r>
                <a:rPr lang="en-US" sz="1883" b="1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   Natural language interface for querying threat intelligence and generating investigation reports.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8045209" h="10161907">
                <a:moveTo>
                  <a:pt x="0" y="0"/>
                </a:moveTo>
                <a:lnTo>
                  <a:pt x="8045209" y="0"/>
                </a:lnTo>
                <a:lnTo>
                  <a:pt x="8045209" y="10161907"/>
                </a:lnTo>
                <a:lnTo>
                  <a:pt x="0" y="10161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1252" b="-3220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672</Words>
  <Application>Microsoft Office PowerPoint</Application>
  <PresentationFormat>Custom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Canva Sans</vt:lpstr>
      <vt:lpstr>Inter 1</vt:lpstr>
      <vt:lpstr>Poppins</vt:lpstr>
      <vt:lpstr>Inter 1 Bold</vt:lpstr>
      <vt:lpstr>Canva Sans Bold</vt:lpstr>
      <vt:lpstr>Poppins Light</vt:lpstr>
      <vt:lpstr>Calibri</vt:lpstr>
      <vt:lpstr>Arial</vt:lpstr>
      <vt:lpstr>Prata</vt:lpstr>
      <vt:lpstr>Poppins Bold</vt:lpstr>
      <vt:lpstr>Inter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Cyber Threat Visualization Dashboard</dc:title>
  <cp:lastModifiedBy>Arpita vishwakarma</cp:lastModifiedBy>
  <cp:revision>2</cp:revision>
  <dcterms:created xsi:type="dcterms:W3CDTF">2006-08-16T00:00:00Z</dcterms:created>
  <dcterms:modified xsi:type="dcterms:W3CDTF">2026-03-29T14:19:47Z</dcterms:modified>
  <dc:identifier>DAHEvqsbG9k</dc:identifier>
</cp:coreProperties>
</file>